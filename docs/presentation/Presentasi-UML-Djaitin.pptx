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J_MASTER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25400">
            <a:solidFill>
              <a:srgbClr val="2F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Djaitin • SIM Konveksi / Tailor / Ready-to-Wear</a:t>
            </a:r>
            <a:endParaRPr lang="en-US" sz="8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73952"/>
            <a:ext cx="59436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7635240" y="-777240"/>
            <a:ext cx="5029200" cy="5029200"/>
          </a:xfrm>
          <a:prstGeom prst="arc">
            <a:avLst/>
          </a:prstGeom>
          <a:noFill/>
          <a:ln w="127000">
            <a:solidFill>
              <a:srgbClr val="2F70B8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8915400" y="2834640"/>
            <a:ext cx="3017520" cy="3017520"/>
          </a:xfrm>
          <a:prstGeom prst="arc">
            <a:avLst/>
          </a:prstGeom>
          <a:noFill/>
          <a:ln w="101600">
            <a:solidFill>
              <a:srgbClr val="FFD21A">
                <a:alpha val="95000"/>
              </a:srgbClr>
            </a:solidFill>
            <a:prstDash val="solid"/>
          </a:ln>
        </p:spPr>
      </p:sp>
      <p:pic>
        <p:nvPicPr>
          <p:cNvPr id="6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1783080" cy="896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1A"/>
                </a:solidFill>
              </a:rPr>
              <a:t>Presentasi UML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233172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 Informasi Manajemen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Djaitin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86384" y="37033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BFF"/>
                </a:solidFill>
              </a:rPr>
              <a:t>Dari elisitasi kebutuhan hingga rancangan UML: use case, activity, sequence, dan class diagram.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86384" y="466344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732020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Tailor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874520" y="466344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FFF7D6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47672" y="4732020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Ready-to-Wear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529584" y="4663440"/>
            <a:ext cx="1115568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02736" y="473202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Konveksi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86384" y="58978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D8FF"/>
                </a:solidFill>
              </a:rPr>
              <a:t>Disusun berdasarkan elisitasi MDI–TOE/HML dan codebase Laravel Djaitin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Presentasi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Struktur pembahasan dari requirement sampai rancangan kelas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28016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0392" y="1481328"/>
            <a:ext cx="502920" cy="502920"/>
          </a:xfrm>
          <a:prstGeom prst="ellipse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161848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508760" y="14630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Konteks Sistem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17556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Ruang lingkup bisnis: tailor, ready-to-wear, konveksi.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55080" y="128016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19672" y="1481328"/>
            <a:ext cx="502920" cy="502920"/>
          </a:xfrm>
          <a:prstGeom prst="ellipse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9672" y="161848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02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78040" y="14630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Elisitasi MDI &amp; TOE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178040" y="17556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Penyaringan requirement menjadi final draft akademis.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5800" y="269748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0392" y="2898648"/>
            <a:ext cx="502920" cy="502920"/>
          </a:xfrm>
          <a:prstGeom prst="ellipse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" y="303580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508760" y="2880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 Case Diagram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508760" y="31729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Aktor dan layanan utama dalam boundary sistem Djaitin.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355080" y="269748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19672" y="2898648"/>
            <a:ext cx="502920" cy="502920"/>
          </a:xfrm>
          <a:prstGeom prst="ellipse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9672" y="303580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04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178040" y="2880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Activity Diagram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78040" y="31729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Alur proses operasional dari order sampai laporan.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5800" y="411480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0392" y="4315968"/>
            <a:ext cx="502920" cy="502920"/>
          </a:xfrm>
          <a:prstGeom prst="ellipse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" y="445312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508760" y="42976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Sequence Diagram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508760" y="45902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Interaksi aktor dan sistem pada skenario penting.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355080" y="411480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19672" y="4315968"/>
            <a:ext cx="502920" cy="502920"/>
          </a:xfrm>
          <a:prstGeom prst="ellipse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19672" y="445312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06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178040" y="42976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Class Diagram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178040" y="45902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Struktur data dan relasi domain utama aplikasi.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Konteks Sistem Djaitin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Sistem operasional terpadu untuk layanan jahit dan penjualan pakaian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34440"/>
            <a:ext cx="73152" cy="14173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3807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Layanan Inti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" y="1673352"/>
            <a:ext cx="32461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Jahit custom / tailor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Pakaian siap pakai (RTW)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Pesanan konveksi skala besar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343400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234440"/>
            <a:ext cx="73152" cy="141732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568" y="13807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Transaksi &amp; Dokumen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44568" y="1673352"/>
            <a:ext cx="32461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DP minimal 50% untuk tailor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Pembayaran tunai dan transfer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Nota dan kwitansi pembayaran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8092440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92440" y="1234440"/>
            <a:ext cx="73152" cy="14173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13807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Operasional Office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93608" y="1673352"/>
            <a:ext cx="32461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Pengelolaan customer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Master data produk, bahan, model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Produksi, pengiriman, laporan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777240" y="3063240"/>
            <a:ext cx="10652760" cy="2331720"/>
          </a:xfrm>
          <a:prstGeom prst="roundRect">
            <a:avLst>
              <a:gd name="adj" fmla="val 3137"/>
            </a:avLst>
          </a:prstGeom>
          <a:solidFill>
            <a:srgbClr val="F0F7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3000" y="3520440"/>
            <a:ext cx="502920" cy="502920"/>
          </a:xfrm>
          <a:prstGeom prst="ellipse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160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Customer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920240" y="3621024"/>
            <a:ext cx="914400" cy="292608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82112" y="3520440"/>
            <a:ext cx="502920" cy="502920"/>
          </a:xfrm>
          <a:prstGeom prst="ellipse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62072" y="4160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Staff/Kasir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959352" y="3621024"/>
            <a:ext cx="914400" cy="292608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21224" y="3520440"/>
            <a:ext cx="502920" cy="502920"/>
          </a:xfrm>
          <a:prstGeom prst="ellipse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01184" y="4160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Produksi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98464" y="3621024"/>
            <a:ext cx="914400" cy="292608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60336" y="3520440"/>
            <a:ext cx="502920" cy="502920"/>
          </a:xfrm>
          <a:prstGeom prst="ellipse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40296" y="4160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Admin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037576" y="3621024"/>
            <a:ext cx="914400" cy="292608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99448" y="3520440"/>
            <a:ext cx="502920" cy="502920"/>
          </a:xfrm>
          <a:prstGeom prst="ellipse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79408" y="4160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Owner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05840" y="4919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Aktor utama berinteraksi dalam satu boundary sistem: customer portal dan office dashboard.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69680" y="-457200"/>
            <a:ext cx="4114800" cy="4114800"/>
          </a:xfrm>
          <a:prstGeom prst="arc">
            <a:avLst/>
          </a:prstGeom>
          <a:noFill/>
          <a:ln w="88900">
            <a:solidFill>
              <a:srgbClr val="FFD21A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-1280160" y="4389120"/>
            <a:ext cx="3840480" cy="3840480"/>
          </a:xfrm>
          <a:prstGeom prst="arc">
            <a:avLst/>
          </a:prstGeom>
          <a:noFill/>
          <a:ln w="76200">
            <a:solidFill>
              <a:srgbClr val="2F70B8">
                <a:alpha val="80000"/>
              </a:srgbClr>
            </a:solidFill>
            <a:prstDash val="solid"/>
          </a:ln>
        </p:spPr>
      </p:sp>
      <p:pic>
        <p:nvPicPr>
          <p:cNvPr id="5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1417320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• Elisitasi Kebutuhan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31272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</a:rPr>
              <a:t>Requirement difilter dari kebutuhan mentah menjadi final draft yang layak dibangun.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21A"/>
                </a:solidFill>
              </a:rPr>
              <a:t>Djaitin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Metode Elisitasi: MDI dan TOE/HML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Metode digunakan agar scope sistem tidak melebar dari kebutuhan inti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14300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143000"/>
            <a:ext cx="73152" cy="43891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2893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Tahap I — Requirement Mentah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6968" y="1581912"/>
            <a:ext cx="2926080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Mengumpulkan seluruh kebutuhan dari observasi, wawancara, dan arahan client. Total awal: 28 requirement.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480560" y="114300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143000"/>
            <a:ext cx="73152" cy="438912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81728" y="12893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Tahap II — MDI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81728" y="1581912"/>
            <a:ext cx="2926080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Mandatory: wajib ada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Desirable: baik jika ada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Inessential: dieliminasi dari scope inti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8275320" y="114300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75320" y="1143000"/>
            <a:ext cx="73152" cy="43891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76488" y="12893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Tahap III — TOE/HML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76488" y="1581912"/>
            <a:ext cx="2926080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Technical: kesulitan teknis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Operational: kesulitan operasional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Economic: beban biaya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HML: High, Medium, Low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Hasil akhir: 23 requirement final sebagai dasar perancangan UML.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Draft Elisitasi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Requirement akhir dikelompokkan menjadi modul sistem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14300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143000"/>
            <a:ext cx="73152" cy="10058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2893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Autentikasi &amp;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6968" y="1581912"/>
            <a:ext cx="4846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Login customer/staff, dashboard customer, dashboard office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6355080" y="114300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143000"/>
            <a:ext cx="73152" cy="100584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6248" y="12893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Layanan Penjualan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56248" y="1581912"/>
            <a:ext cx="4846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Tailor/custom, katalog RTW, keranjang dan checkout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685800" y="2560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2560320"/>
            <a:ext cx="73152" cy="10058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27066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Konveksi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6968" y="2999232"/>
            <a:ext cx="4846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Pengajuan order konveksi dan upload referensi desain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6355080" y="2560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2560320"/>
            <a:ext cx="73152" cy="100584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6248" y="27066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Pembayaran &amp; Dokumen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56248" y="2999232"/>
            <a:ext cx="4846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Tunai/transfer, verifikasi transfer, nota, kwitansi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685800" y="3977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3977640"/>
            <a:ext cx="73152" cy="10058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41239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Aturan Bisnis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86968" y="4416552"/>
            <a:ext cx="4846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DP tailor 50%, pelunasan sebelum ambil, full payment konveksi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6355080" y="3977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55080" y="3977640"/>
            <a:ext cx="73152" cy="100584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56248" y="41239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Operasional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556248" y="4416552"/>
            <a:ext cx="4846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Customer, master data, laporan, pengiriman, notifikasi, audit log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69680" y="-457200"/>
            <a:ext cx="4114800" cy="4114800"/>
          </a:xfrm>
          <a:prstGeom prst="arc">
            <a:avLst/>
          </a:prstGeom>
          <a:noFill/>
          <a:ln w="88900">
            <a:solidFill>
              <a:srgbClr val="FFD21A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-1280160" y="4389120"/>
            <a:ext cx="3840480" cy="3840480"/>
          </a:xfrm>
          <a:prstGeom prst="arc">
            <a:avLst/>
          </a:prstGeom>
          <a:noFill/>
          <a:ln w="76200">
            <a:solidFill>
              <a:srgbClr val="2F70B8">
                <a:alpha val="80000"/>
              </a:srgbClr>
            </a:solidFill>
            <a:prstDash val="solid"/>
          </a:ln>
        </p:spPr>
      </p:sp>
      <p:pic>
        <p:nvPicPr>
          <p:cNvPr id="5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1417320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• Use Case Diagram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31272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</a:rPr>
              <a:t>Aktor eksternal dan layanan utama yang disediakan Sistem Djaitin.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21A"/>
                </a:solidFill>
              </a:rPr>
              <a:t>Djaitin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 — Ringkasan Modul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Diagram lengkap tersedia pada docs/drawio/use-case-diagrams.drawio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14300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527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UCD-1 Autentikasi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Aktor: Guest, Customer, Staff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58952" y="180136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" y="186994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Register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58952" y="218541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" y="22539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Login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58952" y="256946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" y="263804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Logout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58952" y="295351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" y="30220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Reset Password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502152" y="114300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9312" y="12527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UCD-2 Data Customer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39312" y="152704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Aktor: Customer, Staff/Kasir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666744" y="180136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39896" y="186994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Profil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666744" y="218541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39896" y="22539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Alamat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66744" y="256946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39896" y="263804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Ukuran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666744" y="295351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39896" y="30220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Data Pelanggan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409944" y="114300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47104" y="12527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UCD-3 Tailor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47104" y="152704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Aktor: Customer, Staff/Kasir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574536" y="180136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47688" y="186994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Konfigurasi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574536" y="218541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47688" y="22539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Submit Order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574536" y="256946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47688" y="263804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Validasi DP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574536" y="295351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47688" y="30220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Nota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9317736" y="114300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454896" y="12527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UCD-4 RTW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454896" y="152704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Aktor: Guest, Customer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9482328" y="180136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555480" y="186994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Katalog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9482328" y="218541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555480" y="22539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Keranjang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9482328" y="256946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555480" y="263804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Checkout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482328" y="295351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555480" y="30220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Reservasi Stok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94360" y="338328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31520" y="349300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UCD-5 Konveksi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731520" y="376732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Aktor: Customer, Staff/Kasir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758952" y="404164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32104" y="41102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Pengajuan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58952" y="442569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32104" y="449427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Upload Referensi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58952" y="480974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32104" y="48783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Full Payment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58952" y="519379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32104" y="526237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Review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3502152" y="338328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639312" y="349300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UCD-6 Pembayaran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3639312" y="376732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Aktor: Customer, Staff/Kasir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3666744" y="404164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739896" y="41102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Tunai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3666744" y="442569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739896" y="449427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Transfer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3666744" y="480974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739896" y="48783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Verifikasi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3666744" y="519379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739896" y="526237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Kwitansi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6409944" y="338328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47104" y="349300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UCD-7 Operasional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6547104" y="376732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Aktor: Produksi, Staff/Kasir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6574536" y="404164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647688" y="41102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Produksi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6574536" y="442569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647688" y="449427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Stage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6574536" y="480974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647688" y="48783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Pengiriman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6574536" y="519379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647688" y="526237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0B8"/>
                </a:solidFill>
              </a:rPr>
              <a:t>Penyerahan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9317736" y="3383280"/>
            <a:ext cx="25786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454896" y="349300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UCD-8–9 Admin &amp; Owner</a:t>
            </a:r>
            <a:endParaRPr lang="en-US" sz="1200" dirty="0"/>
          </a:p>
        </p:txBody>
      </p:sp>
      <p:sp>
        <p:nvSpPr>
          <p:cNvPr id="84" name="Text 81"/>
          <p:cNvSpPr/>
          <p:nvPr/>
        </p:nvSpPr>
        <p:spPr>
          <a:xfrm>
            <a:off x="9454896" y="376732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Aktor: Admin, Owner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9482328" y="404164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9555480" y="41102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Master Data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9482328" y="442569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555480" y="449427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Laporan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9482328" y="480974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9555480" y="48783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Export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9482328" y="519379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9555480" y="526237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21A"/>
                </a:solidFill>
              </a:rPr>
              <a:t>Audit Log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Aktor dan Boundary Sistem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Actor “Sistem” tidak digunakan karena sistem adalah boundary, bukan entitas eksternal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14300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143000"/>
            <a:ext cx="73152" cy="425196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289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Aktor Eksternal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6968" y="1581912"/>
            <a:ext cx="3063240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Guest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Customer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Staff/Kasir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Produksi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Admin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Owner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434840" y="114300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143000"/>
            <a:ext cx="73152" cy="425196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289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Boundary Sistem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36008" y="1581912"/>
            <a:ext cx="3063240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Semua use case berada di dalam boundary “Sistem Djaitin”. Use case internal seperti validasi DP, reservasi stok, atau generate kwitansi direpresentasikan dengan &lt;&lt;include&gt;&gt;.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8183880" y="114300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83880" y="1143000"/>
            <a:ext cx="73152" cy="425196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289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Aturan Relasi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85048" y="1581912"/>
            <a:ext cx="3063240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Association: aktor memakai fitur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&lt;&lt;include&gt;&gt;: langkah wajib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&lt;&lt;extend&gt;&gt;: kondisi tambahan/opsional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69680" y="-457200"/>
            <a:ext cx="4114800" cy="4114800"/>
          </a:xfrm>
          <a:prstGeom prst="arc">
            <a:avLst/>
          </a:prstGeom>
          <a:noFill/>
          <a:ln w="88900">
            <a:solidFill>
              <a:srgbClr val="FFD21A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-1280160" y="4389120"/>
            <a:ext cx="3840480" cy="3840480"/>
          </a:xfrm>
          <a:prstGeom prst="arc">
            <a:avLst/>
          </a:prstGeom>
          <a:noFill/>
          <a:ln w="76200">
            <a:solidFill>
              <a:srgbClr val="2F70B8">
                <a:alpha val="80000"/>
              </a:srgbClr>
            </a:solidFill>
            <a:prstDash val="solid"/>
          </a:ln>
        </p:spPr>
      </p:sp>
      <p:pic>
        <p:nvPicPr>
          <p:cNvPr id="5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1417320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• Activity Diagram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31272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</a:rPr>
              <a:t>Alur kerja utama divisualisasikan dengan swimlane agar tanggung jawab tiap aktor jelas.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21A"/>
                </a:solidFill>
              </a:rPr>
              <a:t>Djaitin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Diagram — Alur Operasional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Diagram lengkap tersedia pada docs/drawio/activity-diagrams.drawio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9728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097280"/>
            <a:ext cx="73152" cy="10058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2435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AD-1 Order Tailor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536192"/>
            <a:ext cx="4663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Pilih layanan → isi ukuran/model → validasi DP → order tercatat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6263640" y="109728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097280"/>
            <a:ext cx="73152" cy="100584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12435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AD-2 Checkout RTW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64808" y="1536192"/>
            <a:ext cx="4663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Pilih produk → cart → validasi stok → checkout → pembayaran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731520" y="251460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514600"/>
            <a:ext cx="73152" cy="10058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26609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AD-3 Order Konveksi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2688" y="2953512"/>
            <a:ext cx="4663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Isi perusahaan → upload referensi → item/pricing → full payment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6263640" y="251460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3640" y="2514600"/>
            <a:ext cx="73152" cy="100584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64808" y="26609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AD-4 Verifikasi Pembayaran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64808" y="2953512"/>
            <a:ext cx="4663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Upload bukti → antrean verifikasi → sah/tolak → kwitansi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731520" y="393192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931920"/>
            <a:ext cx="73152" cy="10058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40782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AD-5 Produksi &amp; Pengiriman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2688" y="4370832"/>
            <a:ext cx="4663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Gate pembayaran → produksi → selesai → ambil/kirim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6263640" y="393192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63640" y="3931920"/>
            <a:ext cx="73152" cy="100584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64808" y="40782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AD-6 Master Data &amp; Laporan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64808" y="4370832"/>
            <a:ext cx="4663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Admin kelola data → owner lihat laporan dan audit log</a:t>
            </a:r>
            <a:endParaRPr lang="en-US" sz="970" dirty="0"/>
          </a:p>
        </p:txBody>
      </p:sp>
      <p:sp>
        <p:nvSpPr>
          <p:cNvPr id="29" name="Text 26"/>
          <p:cNvSpPr/>
          <p:nvPr/>
        </p:nvSpPr>
        <p:spPr>
          <a:xfrm>
            <a:off x="777240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Setiap activity diagram memiliki start node, end node, decision, dan swimlane container per aktor/bagian.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69680" y="-457200"/>
            <a:ext cx="4114800" cy="4114800"/>
          </a:xfrm>
          <a:prstGeom prst="arc">
            <a:avLst/>
          </a:prstGeom>
          <a:noFill/>
          <a:ln w="88900">
            <a:solidFill>
              <a:srgbClr val="FFD21A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-1280160" y="4389120"/>
            <a:ext cx="3840480" cy="3840480"/>
          </a:xfrm>
          <a:prstGeom prst="arc">
            <a:avLst/>
          </a:prstGeom>
          <a:noFill/>
          <a:ln w="76200">
            <a:solidFill>
              <a:srgbClr val="2F70B8">
                <a:alpha val="80000"/>
              </a:srgbClr>
            </a:solidFill>
            <a:prstDash val="solid"/>
          </a:ln>
        </p:spPr>
      </p:sp>
      <p:pic>
        <p:nvPicPr>
          <p:cNvPr id="5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1417320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• Sequence Diagram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31272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</a:rPr>
              <a:t>Interaksi runtime antar aktor dan bagian sistem pada skenario prioritas.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21A"/>
                </a:solidFill>
              </a:rPr>
              <a:t>Djaitin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 — 6 Skenario Prioritas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Versi diagram sequence menggunakan Mermaid image light mode dengan background non-transparent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2344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399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SD-1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36192" y="13807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Login Pengguna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2344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7D6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399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SD-2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85232" y="13807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Order Tailor + DP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21040" y="12344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1399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SD-3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034272" y="13807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Checkout RTW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23317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7D6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24963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SD-4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536192" y="2478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Pengajuan Konveksi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23317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4963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SD-5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85232" y="2478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Verifikasi Pembayaran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321040" y="23317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7D6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8200" y="24963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SD-6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034272" y="2478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Produksi &amp; Pengiriman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1520" y="3337560"/>
            <a:ext cx="107899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868680" y="3566160"/>
            <a:ext cx="10515600" cy="21945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341071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Contoh: SD-4 Pengajuan Order Konveksi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 — Rule Bisnis yang Ditonjolkan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Diagram tidak memakai istilah teknis controller/service; memakai bahasa bisnis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143000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143000"/>
            <a:ext cx="73152" cy="41605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2893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Tailor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581912"/>
            <a:ext cx="315468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Customer mengisi model, bahan, ukuran, dan catatan. Sistem menampilkan DP minimal 50% sebelum order diproses lebih lanjut.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343400" y="1143000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143000"/>
            <a:ext cx="73152" cy="416052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568" y="12893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Konveksi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44568" y="1581912"/>
            <a:ext cx="315468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Customer mengisi brief perusahaan, menyertakan referensi desain, item/pricing, dan pembayaran penuh sebelum produksi.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7955280" y="1143000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55280" y="1143000"/>
            <a:ext cx="73152" cy="416052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6448" y="12893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Pembayaran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56448" y="1581912"/>
            <a:ext cx="315468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Bukti transfer masuk antrean verifikasi. Staff/Kasir mengesahkan atau menolak, kemudian sistem menerbitkan kwitansi.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69680" y="-457200"/>
            <a:ext cx="4114800" cy="4114800"/>
          </a:xfrm>
          <a:prstGeom prst="arc">
            <a:avLst/>
          </a:prstGeom>
          <a:noFill/>
          <a:ln w="88900">
            <a:solidFill>
              <a:srgbClr val="FFD21A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-1280160" y="4389120"/>
            <a:ext cx="3840480" cy="3840480"/>
          </a:xfrm>
          <a:prstGeom prst="arc">
            <a:avLst/>
          </a:prstGeom>
          <a:noFill/>
          <a:ln w="76200">
            <a:solidFill>
              <a:srgbClr val="2F70B8">
                <a:alpha val="80000"/>
              </a:srgbClr>
            </a:solidFill>
            <a:prstDash val="solid"/>
          </a:ln>
        </p:spPr>
      </p:sp>
      <p:pic>
        <p:nvPicPr>
          <p:cNvPr id="5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1417320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• Class Diagram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31272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</a:rPr>
              <a:t>Struktur domain sistem berdasarkan model, migration, dan relasi Eloquent.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21A"/>
                </a:solidFill>
              </a:rPr>
              <a:t>Djaitin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 — Struktur Domain Djaitin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Mermaid image light mode, background putih agar kompatibel saat export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097280"/>
            <a:ext cx="11201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640080" y="1325880"/>
            <a:ext cx="10927080" cy="4846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1170432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Class Diagram Djaitin — model utama dan relasi multiplicity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 — Kelompok Class dan Relasi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Mengikuti notasi class diagram: atribut, operasi, visibility, relasi, dan multiplicity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05156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051560"/>
            <a:ext cx="73152" cy="44348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19786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Akun &amp; Customer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6968" y="1490472"/>
            <a:ext cx="3154680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User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Customer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Address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Measurement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Cart / CartItem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4343400" y="105156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051560"/>
            <a:ext cx="73152" cy="443484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568" y="119786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Order &amp; Transaksi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44568" y="1490472"/>
            <a:ext cx="3154680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Order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OrderItem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Payment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Shipment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OrderAttachment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8001000" y="1051560"/>
            <a:ext cx="3474720" cy="4434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01000" y="1051560"/>
            <a:ext cx="73152" cy="44348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19786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Master &amp; Monitoring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02168" y="1490472"/>
            <a:ext cx="3154680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Product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Fabric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GarmentModel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Courier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DiscountPolicy</a:t>
            </a:r>
            <a:endParaRPr lang="en-US" sz="970" dirty="0"/>
          </a:p>
          <a:p>
            <a:r>
              <a:rPr lang="en-US" sz="970" dirty="0">
                <a:solidFill>
                  <a:srgbClr val="475569"/>
                </a:solidFill>
              </a:rPr>
              <a:t>AuditLog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777240" y="57150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Relasi utama: composition untuk data turunan order/customer, aggregation untuk master data, association untuk referensi bisnis, dependency untuk audit log.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Konsistensi UML terhadap Codebase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Diagram disusun berdasarkan requirement final dan implementasi Laravel Djaitin</a:t>
            </a:r>
            <a:endParaRPr lang="en-US" sz="1050" dirty="0"/>
          </a:p>
        </p:txBody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"/>
            <a:ext cx="118872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14300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0F7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70432" y="13258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Requirement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63240" y="13075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Final draft elisitasi MDI–TOE/HML menjadi scope utama UML.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4400" y="219456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FFDF2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2377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Route &amp; UI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63240" y="23591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Customer portal dan office dashboard menjadi dasar pembagian aktor.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324612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0F7FF"/>
          </a:solidFill>
          <a:ln w="12700">
            <a:solidFill>
              <a:srgbClr val="D8E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34290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Model &amp; Migration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63240" y="34107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Class diagram mengikuti tabel utama: orders, payments, shipments, products, customers, attachments, audit_logs.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00" y="429768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FFDF2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4480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Service Rule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063240" y="44622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DP 50%, full payment konveksi, verifikasi pembayaran, dan gate produksi masuk ke sequence/activity.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pic>
        <p:nvPicPr>
          <p:cNvPr id="4" name="Image 0" descr="/mnt/c/laragon/www/djaitin/resources/images/logo/logo-djaitin-transp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1508760" cy="758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Kesimpulan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49808" y="2606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</a:rPr>
              <a:t>UML Djaitin memodelkan sistem operasional terpadu yang mencakup layanan tailor, ready-to-wear, konveksi, pembayaran, produksi, pengiriman, laporan, dan audit.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3794760"/>
            <a:ext cx="73152" cy="12344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39410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Scope Jelas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78408" y="4233672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Berdasarkan final draft elisitasi, bukan fitur di luar scope.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443484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3794760"/>
            <a:ext cx="73152" cy="1234440"/>
          </a:xfrm>
          <a:prstGeom prst="rect">
            <a:avLst/>
          </a:prstGeom>
          <a:solidFill>
            <a:srgbClr val="FFD21A"/>
          </a:solidFill>
          <a:ln w="12700">
            <a:solidFill>
              <a:srgbClr val="FFD2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008" y="39410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Aktor Formal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636008" y="4233672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Customer, Staff/Kasir, Produksi, Admin, Owner.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809244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7FF"/>
            </a:solidFill>
            <a:prstDash val="solid"/>
          </a:ln>
          <a:effectLst>
            <a:outerShdw sx="100000" sy="100000" kx="0" ky="0" algn="bl" rotWithShape="0" blurRad="12700" dist="50800" dir="2700000">
              <a:srgbClr val="D7E7FF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92440" y="3794760"/>
            <a:ext cx="73152" cy="1234440"/>
          </a:xfrm>
          <a:prstGeom prst="rect">
            <a:avLst/>
          </a:prstGeom>
          <a:solidFill>
            <a:srgbClr val="2F70B8"/>
          </a:solidFill>
          <a:ln w="12700">
            <a:solidFill>
              <a:srgbClr val="2F70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93608" y="39410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Siap Dipresentasikan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93608" y="4233672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70" dirty="0">
                <a:solidFill>
                  <a:srgbClr val="475569"/>
                </a:solidFill>
              </a:rPr>
              <a:t>Diagram tersedia sebagai draw.io dan Mermaid image.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777240" y="5806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1A"/>
                </a:solidFill>
              </a:rPr>
              <a:t>Terima kasih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Djaitin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Djaitin</dc:title>
  <dc:subject>Presentasi UML Sistem Informasi Manajemen Konveksi Djaitin</dc:subject>
  <dc:creator>Djaitin Team</dc:creator>
  <cp:lastModifiedBy>Djaitin Team</cp:lastModifiedBy>
  <cp:revision>1</cp:revision>
  <dcterms:created xsi:type="dcterms:W3CDTF">2026-05-26T09:23:05Z</dcterms:created>
  <dcterms:modified xsi:type="dcterms:W3CDTF">2026-05-26T09:23:05Z</dcterms:modified>
</cp:coreProperties>
</file>